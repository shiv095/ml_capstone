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3600" b="1">
                <a:solidFill>
                  <a:srgbClr val="FFFFFF"/>
                </a:solidFill>
              </a:defRPr>
            </a:pPr>
            <a:r>
              <a:t>Customer Behaviour Classification</a:t>
            </a:r>
            <a:br/>
            <a:r>
              <a:t>&amp; Unsupervised Segmentation</a:t>
            </a:r>
          </a:p>
          <a:p>
            <a:pPr>
              <a:spcBef>
                <a:spcPts val="1400"/>
              </a:spcBef>
              <a:defRPr sz="1800">
                <a:solidFill>
                  <a:srgbClr val="93C5FD"/>
                </a:solidFill>
              </a:defRPr>
            </a:pPr>
            <a:r>
              <a:t>Online Retail II — Classification Track Part B (10 Models) &amp; Full Clustering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996696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3886200"/>
            <a:ext cx="30175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MEMBER 1: Lead Classification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Classification Part B (Models 6-10)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Consolidated 10-Model Benchmark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Feature Importances &amp; ROC Curves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86200"/>
            <a:ext cx="30175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MEMBER 2: Tuning &amp; Deployment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GridSearchCV Hyperparameter Tuning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5-Fold Cross-Validation Stability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Bonus Streamlit Web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886200"/>
            <a:ext cx="30175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MEMBER 3: Lead Clustering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Full Clustering Track (K-Means &amp; Agg)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2D PCA &amp; t-SNE Manifold Spaces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Post-Hoc Validation &amp; RFM Personas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TEAM GOVERNANCE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Team Work Division &amp; Track Ownership (Guideline 7.4)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Section 7.4 Rule: Divide by track, not by step. Each member is the primary owner of their assigned analytical module.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Member 1 — Lead Classification Engineer</a:t>
            </a:r>
          </a:p>
          <a:p>
            <a:pPr algn="ctr">
              <a:defRPr sz="900">
                <a:solidFill>
                  <a:srgbClr val="E0E7FF"/>
                </a:solidFill>
              </a:defRPr>
            </a:pPr>
            <a:r>
              <a:t>OWNERSHIP: Classification Part B &amp; 10-Model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Implemented all 5 Part-B algorithms: Random Forest, AdaBoost, Gradient Boosting, Bagging, and MLP Neural Network.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Evaluated confusion matrices, error tradeoffs (FP vs FN), and combined ROC curves across all 10 algorithms.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Performed feature importance analysis (Recency &gt;72% vs Monetary &lt;28%).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Compiled and validated the Consolidated 10-Algorithm Comparison Table (Deliverable D6).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Member 2 — MLOps, Tuning &amp; GUI Engineer</a:t>
            </a:r>
          </a:p>
          <a:p>
            <a:pPr algn="ctr">
              <a:defRPr sz="900">
                <a:solidFill>
                  <a:srgbClr val="E0E7FF"/>
                </a:solidFill>
              </a:defRPr>
            </a:pPr>
            <a:r>
              <a:t>OWNERSHIP: Model Selection, Tuning &amp; Bonus GUI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Designed the leakage-safe preprocessing pipeline (IQRClipper + StandardScaler).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Conducted systematic GridSearchCV on Random Forest (5-fold CV, 120 candidate fits), achieving optimal ROC-AUC = 0.9053.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Evaluated 5-fold cross-validation stability for the top 2 models (Guideline 7.2).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Developed the interactive Streamlit Web Application (app/app.py) for live inference, PCA mapping, and cloud deployment (Bonus +2).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Member 3 — Lead Clustering &amp; Persona Analyst</a:t>
            </a:r>
          </a:p>
          <a:p>
            <a:pPr algn="ctr">
              <a:defRPr sz="900">
                <a:solidFill>
                  <a:srgbClr val="E0E7FF"/>
                </a:solidFill>
              </a:defRPr>
            </a:pPr>
            <a:r>
              <a:t>OWNERSHIP: Full Clustering Track &amp; Business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432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Engineered the unlabelled RFM feature matrix and applied log1p + StandardScaler to eliminate monetary Euclidean dominance.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Implemented K-Means with Elbow &amp; Silhouette curve evaluation (selected k=4).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Built Agglomerative Hierarchical Clustering with Dendrogram and linkage strategy comparison (Ward, Complete, Average).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Executed 2D PCA &amp; 2D t-SNE visualisations, post-hoc validation, and defined actionable customer persona playbooks.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METHODOLOGY &amp; DATA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Formulation &amp; Strict Leakage Control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How transactional rows are mapped to customer vectors while preventing 100% target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The Unit of Analysis Transformation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Transaction Level (525,461 rows): Each row represents a single invoice product line item. Highly granular, contains duplicate customer visits.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Customer Aggregation (4,312 customers): We aggregate by Customer ID to create customer-level behavioral summaries: Recency, Frequency, Monetary.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Target Construction: Repeat_Customer = 1 if Frequency &gt; 1, else 0 (Class 0: 27.9%, Class 1: 72.1%).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Stratified 80/20 Split: Preserves identical 72:28 repeat buyer proportions across training (3,449) and test (863) partitions.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Strict Leakage Prevention Protocol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Frequency Exclusion (Target Leakage): Because the target is built as (Frequency &gt; 1), placing Frequency in feature set X allows the model to learn a trivial tautology. Frequency is strictly excluded from X!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Feature Vector X: Predictors restricted purely to [Recency, Monetary]. The task: Can purchase recency and total spend predict customer retention?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IQRClipper Outlier Capping: Cap boundaries (Q1 - 1.5*IQR, Q3 + 1.5*IQR) are learned strictly on training splits. Test data is clipped using training boundaries only.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StandardScaler inside Pipeline: Scaling parameters (mean, std) are fitted inside cross-validation splits, guaranteeing zero train-to-test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CLASSIFICATION TRACK (RUBRIC A1)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Classification Part B — 5 Required Algorithm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Advanced ensemble methods and artificial neural networks evaluated on the identical preprocessed benchmark.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20"/>
            <a:ext cx="2560320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Random Forest Classifier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Ensemble Bagging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4708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Builds 100 decorrelated decision trees using bootstrap aggregation and random feature subsampling. Minimizes variance while retaining non-linear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560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AdaBoost Classifier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Sequential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0720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Focuses adaptively on hard-to-classify samples by iteratively increasing weights of misclassified observations. Tunes n_estimators and learning_rate.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256032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Gradient Boosting (GBM)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Gradient Tree 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6732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Stage-wise additive model that optimizes pseudo-residuals of the loss function via gradient descent in function space. Captures complex interactions.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754880"/>
            <a:ext cx="256032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Bagging Classifier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Bootstrap Aggregating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72744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Aggregates 50 DecisionTree base estimators trained on bootstrap data subsets. Reduces variance and prevents individual tree overfitting.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715000"/>
            <a:ext cx="256032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MLP Classifier (Neural Net)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Feedforward ANN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68756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Multi-layer perceptron with hidden layers (64, 32), non-linear ReLU activations, and Adam backpropagation. Models smooth decision manifolds.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EVALUATION &amp; DIAGNOSTICS (RUBRIC A1)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Part B Diagnostic Evaluation: Confusion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Analyzing true positives, false positives, false negatives, and true negatives across test instances.</a:t>
            </a:r>
          </a:p>
        </p:txBody>
      </p:sp>
      <p:pic>
        <p:nvPicPr>
          <p:cNvPr id="6" name="Picture 5" descr="classification_part_b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0399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828800"/>
            <a:ext cx="39319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Error Distribution Analysis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High True Positive Rates: Ensemble models correctly detect &gt;570 of the 622 actual repeat customers in held-out test data.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Balanced Class Tradeoffs: Bagging and Random Forest minimize both Type I (FP: false loyalty alarm) and Type II (FN: missed repeat buyer) errors.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Superior to Decision Tree: Unlike single unrestricted decision trees which suffered from noisy boundary splits, Part B ensembles smooth variance significantly.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MLP Precision: MLP Neural Network achieved exceptional balance (135 TN, 595 TP), confirming robust non-linear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EVALUATION &amp; DIAGNOSTICS (RUBRIC A1)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Discrimination Capacity: Consolidated ROC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Receiver Operating Characteristic evaluates sensitivity vs. specificity across all classification thresholds.</a:t>
            </a:r>
          </a:p>
        </p:txBody>
      </p:sp>
      <p:pic>
        <p:nvPicPr>
          <p:cNvPr id="6" name="Picture 5" descr="classification_roc_curve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2321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828800"/>
            <a:ext cx="39319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ROC-AUC Ranking Power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MLP Neural Network: Highest discrimination capacity across thresholds with ROC-AUC = 0.9065.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Bagging Classifier: Consistently tracks the top envelope with ROC-AUC = 0.9048.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Random Forest Classifier: Exceptional ranking power with ROC-AUC = 0.9044.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Ensemble vs Baseline Gain: Part B ensemble methods improved ROC-AUC by over +0.165 points compared to baseline Decision Tree (0.740).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Ranking Metric Meaning: ROC-AUC evaluates probability calibration independent of an arbitrary 0.5 decision cut-off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MODEL INTERPRETABILITY (RUBRIC A1)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Importance Audit: Tree Ensembles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Quantifying the relative contribution of Recency vs. Monetary spending in retail retention decisions.</a:t>
            </a:r>
          </a:p>
        </p:txBody>
      </p:sp>
      <p:pic>
        <p:nvPicPr>
          <p:cNvPr id="6" name="Picture 5" descr="classification_ensemble_feature_impor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34319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2976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Technical Feature Interpretation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Recency Dominates (&gt;72%): In both Random Forest (72.8%) and Gradient Boosting (74.2%), Recency is the primary driver of tree branch splits.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The Recency Momentum Law: Customers who bought within 30 days have active purchasing momentum and strong return probability. Inactivity &gt; 180 days is an empirical indicator of churn.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Monetary Value (~27%): Monetary spend acts as a secondary modifier. High spenders are more likely to return than low spenders given equal recency.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Retail Application: Marketing spend should prioritize recency-triggered engagement sequences immediately following a customer's first purchase.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FULL COMPARISON TABLE (RUBRIC A2)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Consolidated 10-Algorithm Classification Benchmark (Deliverable D6)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Single unified comparison table ranking all 10 algorithms on the identical held-out test split.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1188720"/>
                <a:gridCol w="1463040"/>
                <a:gridCol w="1463040"/>
                <a:gridCol w="1463040"/>
                <a:gridCol w="146304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Bagging Classifier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84.82%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84.61%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84.65%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0.9048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Random Forest Classifier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84.47%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84.30%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84.35%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0.9044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MLP Classifier (Neural Net)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84.47%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84.26%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84.30%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0.9065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Decision Tree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84.01%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AdaBoost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83.89%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Support Vector Machine (SVC)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Gradient Boosting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83.55%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83.28%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83.31%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K-Nearest Neighbors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83.08%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0.8700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Naive Bayes (Gaussian)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MODEL SELECTION &amp; TUNING (RUBRIC A3)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Final Model Selection &amp; GridSearchCV Hyperparameter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Systematic optimization of Random Forest Classifier using 5-fold cross-validation.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Model Selection Justification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Why Random Forest? Combines bootstrap aggregating with random feature subspace projection. Unlike Bagging with standard trees, it guarantees tree decorrelation.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Robust Against Retail Skew: Naturally handles extreme outliers in customer spend through rank-based recursive thresholding.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Tuning Parameter Grid: Evaluated combinations of n_estimators [50, 100, 150, 200], max_depth [4, 5, 6, 8, None], min_samples_split [2, 5, 10], and criterion [gini, entropy].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Optimal Parameters: {'criterion': 'gini', 'max_depth': 4, 'min_samples_split': 2, 'n_estimators': 50}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Before vs. After Tuning Improvement Table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Baseline RF (n_est=100, depth=6): </a:t>
            </a:r>
            <a:br/>
            <a:r>
              <a:t>  • Accuracy: 84.47% | F1: 84.35% | ROC-AUC: 0.9044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Tuned RF (n_est=50, depth=4): </a:t>
            </a:r>
            <a:br/>
            <a:r>
              <a:t>  • Accuracy: 84.24% | F1: 84.15% | ROC-AUC: 0.9053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Key Tuning Gain (ROC-AUC): ROC-AUC improved from 0.9044 to 0.9053, confirming superior class ranking over all thresholds.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Generalization Benefit: Constraining max_depth from 6 down to 4 significantly regularized tree complexity, eliminating brittle leaf nodes and preventing test split overfitting.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Production Artifact: Saved as best_classification_pipeline.joblib for production web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GENERAL GUIDELINE 7.2: CROSS-VALIDATION REQUIREMENT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5-Fold Cross-Validation Stability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Verifying stability and generalization across folds for the top two classification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Cross-Validation Protocol &amp; Stability Table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As mandated by Capstone Guideline 7.2, 5-fold cross-validation is evaluated on the top two classification architectures using leakage-safe pipelines where IQRClipper and StandardScaler are fitted separately inside each training fold.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3108960"/>
          <a:ext cx="9966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  <a:gridCol w="1661160"/>
                <a:gridCol w="1661160"/>
                <a:gridCol w="16611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Top Classifier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Weighted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Tuned 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83.91% ± 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83.74% ± 0.77%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83.91% ± 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83.80% ± 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0.9024 ± 0.0062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Bagging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84.14% ± 0.69%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83.96% ± 0.68%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84.14% ± 0.69%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84.02% ± 0.69%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0.9031 ± 0.0058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• Performance Stability Analysis: Standard deviation across folds is exceptionally low (&lt; 0.8% accuracy, &lt; 0.007 ROC-AUC), proving that performance is highly reproducible and statistically generalizable.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BONUS OPPORTUNITIES: +2 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2 Bonus Track: Interactive Streamlit GUI (Deliverable D8)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Production web application integrating real-time supervised inference and unsupervised persona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1: Repeat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Accepts Recency (days) and Monetary (£) sliders. Executes instant inference via serialized Random Forest pipeline, displaying repeat probability gauge and risk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2: Customer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Accepts 3D RFM inputs, normalizes via log1p scaler, assigns K-Means persona, and plots customer position ⭐ live on a 2D PCA cluster cloud!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3: Capstone Leaderboard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Live interactive dataframes displaying the complete 10-algorithm classification benchmark, clustering linkage metrics, and regression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HOW TO LAUNCH THE WEB APPLICATION LOCALLY: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$ cd Retail_ML_Capstone &amp;&amp; streamlit run app/app.py   (Opens automatically at http://localhost:8501)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CLUSTERING TRACK (RUBRIC B1 &amp; B2)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Clustering Track: Unsupervised Customer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Discovering behavioral customer personas from unlabelled RFM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Why Unsupervised Clustering?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Retail customers are not homogeneous. Unsupervised learning groups customers into clusters sharing similar behavioral patterns without requiring pre-assigned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RFM Feature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Recency (R): Freshness of last transaction.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Frequency (F): Loyalty &amp; engagement count.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Monetary (M): Lifetime revenue contribution (£).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Section 3.3 Evaluation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Strict Rule: Target labels (Repeat_Customer) are strictly withheld during model training. Ground truth is used solely post-hoc to validate discovered clusters.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PREPROCESSING &amp; NORMALIZATION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Clustering Preprocessing: Addressing Skewness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Why direct Euclidean distance calculation fails on raw transactional data without dual-stage transformation.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Challenge 1: Scale Disparity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Recency: Ranges from 1 to 373 days.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Frequency: Ranges from 1 to 100+ invoices.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Monetary Value: Ranges from £1 to £100,000+.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Euclidean Dominance Problem: Distance formula sqrt(sum(x_i - y_i)^2) is dominated by large-magnitude variables. Without scaling, Monetary spend accounts for &gt;99% of distance, collapsing clustering into a 1D wealth partition!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Challenge 2: Heavy-Tailed Skewness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Heavy Right Tail: Retail spending and purchase frequency exhibit power-law distributions where 5% of VIPs create extreme statistical outliers.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Step 1: Log1p Transformation: Applying log(1 + x) compresses extreme positive skewness, turning exponential tails into approximately Gaussian distributions.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Step 2: StandardScaler: Standardizes all 3 log-transformed dimensions to mean = 0, std = 1, ensuring equal geometric weighting in Euclidean space.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Mathematical Proof: Guarantees that Recency, Frequency, and Monetary contribute equally to centroid convergence.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ALGORITHM IMPLEMENTATION (RUBRIC B1 &amp; B2)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Algorithm 1: K-Means Clustering &amp; The Elbow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Evaluating within-cluster sum of squares (Inertia) and Silhouette Scores across k = 2 to 8.</a:t>
            </a:r>
          </a:p>
        </p:txBody>
      </p:sp>
      <p:pic>
        <p:nvPicPr>
          <p:cNvPr id="6" name="Picture 5" descr="clustering_kmeans_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766560" cy="23603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828800"/>
            <a:ext cx="3749039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0116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Optimal k = 4 Justification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Elbow Inflection Point: Inertia curve exhibits a distinct flattening around k = 3 and k = 4, where additional clusters yield diminishing returns in WCSS reduction.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Silhouette Cohesion (0.3314): At k = 4, the Silhouette Score peaks, indicating robust intra-cluster tightness and distinct inter-cluster separation.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Business Actionability: k = 4 maps naturally to standard commercial customer tiers: Champions, Potential Loyalists, At-Risk Churners, and Steady Regulars.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Mathematical Model: Minimizes Inertia = sum(||x - mu_i||^2) using Lloyd's algorithm with 10 random restarts.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ALGORITHM IMPLEMENTATION (RUBRIC B1 &amp; B2)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Algorithm 2: Agglomerative Hierarchical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Bottom-up hierarchical merge tree rendered via Dendrogram with Euclidean linkage distance.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749039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0116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Dendrogram Mechanics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Hierarchical Merging: Each customer starts as an individual singleton cluster; pairs with minimum linkage distance are merged iteratively.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Ward Linkage Criterion: Objective function minimizes the increase in total within-cluster variance at each merge step.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Horizontal Cut Threshold: Cutting the dendrogram at Euclidean distance threshold y = 20 yields exactly 4 major branches, corroborating K-Means k = 4!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Visual Truncation: Rendered with top 30 leaf merges for crisp legibility across thousands of customer nodes.</a:t>
            </a:r>
          </a:p>
        </p:txBody>
      </p:sp>
      <p:pic>
        <p:nvPicPr>
          <p:cNvPr id="9" name="Picture 8" descr="clustering_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6766560" cy="33230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EVALUATION METRICS (RUBRIC B2)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Consolidated Clustering Evaluation Table (Rubric B2)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Systematic comparison of Silhouette Score, Davies-Bouldin Index, and Calinski-Harabasz Index.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1097280"/>
                <a:gridCol w="1005840"/>
                <a:gridCol w="1005840"/>
                <a:gridCol w="9144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Linkage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Silhouette (↑)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DBI (↓)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CHI (↑)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K-Means (Optimal)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Centroid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0.3314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1.0115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3,234.4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Agglomerative (Ward)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0.2778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1.1008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2,826.9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Agglomerative (Average)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0.3231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0.6935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603.6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Agglomerative (Complete)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0.1134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1.5222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901.6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828800"/>
            <a:ext cx="34747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Metric Definitions &amp; Insights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Silhouette Score (↑): Measures cluster tightness vs separation. K-Means (0.3314) achieves the best overall score.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Davies-Bouldin Index (↓): Ratio of within-cluster distance to between-cluster separation. Lower is better.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Calinski-Harabasz (↑): Variance ratio criterion. K-Means peaks at 3,234.4, proving superior between-cluster dispersion.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Why Complete Linkage Failed: Complete linkage (Silhouette = 0.1134) uses maximum pairwise distance, making it sensitive to outliers and producing chaining effects.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CLUSTER VISUALISATION (RUBRIC B3)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 Visualisation: 2D Principal Component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Projecting 3D standardized RFM space onto two orthogonal principal components explaining 94.1% of total variance.</a:t>
            </a:r>
          </a:p>
        </p:txBody>
      </p:sp>
      <p:pic>
        <p:nvPicPr>
          <p:cNvPr id="6" name="Picture 5" descr="clustering_pca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29492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828800"/>
            <a:ext cx="30175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11680"/>
            <a:ext cx="2651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PCA Space Analysis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Total Variance Explained: PC1 captures 74.2% and PC2 captures 19.9% = 94.1% of total informational variance preserved!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Geometric Boundaries: K-Means and Agglomerative (Ward) form strikingly concordant partitions, proving stability across different mathematical formulations.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Cluster Separation: Clear geometric boundaries visible between dormant spenders and active high-frequency clusters.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CLUSTER VISUALISATION (RUBRIC B3)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 Visualisation: 2D t-SNE Manifold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t-Distributed Stochastic Neighbor Embedding visualises non-linear high-dimensional neighborhood structure.</a:t>
            </a:r>
          </a:p>
        </p:txBody>
      </p:sp>
      <p:pic>
        <p:nvPicPr>
          <p:cNvPr id="6" name="Picture 5" descr="clustering_tsne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6006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828800"/>
            <a:ext cx="39319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t-SNE Manifold Properties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Non-Linear Topology: While PCA is a linear orthogonal projection, t-SNE preserves local probability distributions using Student-t similarity kernels.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Perplexity = 30: Maintains optimal balance between local clustering details and global topology across 4,312 customers.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Manifold Cohesion: Confirms that customer clusters are not arbitrary hyper-plane slices, but genuine high-density behavioral islands.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Rubric Compliance: Exceeds standard 2D PCA requirements by fulfilling the encouraged t-SNE deliverable.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3.3 EVALUATION RULE: VALIDATION WITHOUT SUPERVISION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Section 3.3 Compliance: Post-Hoc Ground-Truth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Using ground-truth label Repeat_Customer strictly after the fact to validate cluster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Ground-Truth Cross-Tabulation Matrix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The Capstone Guideline explicitly states: 'Unlike regression and classification, clustering has no labels during training. Use the ground-truth labels only to interpret or validate results after the fact, not during model fitting.' Below is the empirical cross-tabulation: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3108960"/>
          <a:ext cx="9966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K-Means Cluster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Assigned Customer Persona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One-Time Buyers (0)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Repeat Buyers (1)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Empirical Repeat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Champions &amp; VIP Loyalists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778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100.0%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Steady Regular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25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1,186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97.9%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Potential Loyalists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359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586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62.0%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At-Risk / Dormant Churners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1,035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343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24.9%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• Validation Finding: Notice how Cluster 1 achieved 100% repeat buyers and Cluster 2 captured 75.1% of all one-time buyers completely unguided. This confirms that K-Means independently extracted genuine customer retention dynamics.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PERSONA STRATEGY &amp; BUSINESS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2743200" cy="320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Presented by: 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Discovered Customer Personas &amp; Marketing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Actionable, persona-tailored marketing interventions maximizing customer lifetime value (CLV).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46888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1: Champions &amp; VIPs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100% Repeat | £3,416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Exclusive VIP concierge support &amp; private access to premium product drops.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Referral incentives &amp; high-tier loyalty points acceleration.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Zero discount spam; focus on prestige recognition.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46888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3: Steady Regulars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97.9% Repeat | £1,362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Automated replenishment reminders based on historical invoice intervals.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Cross-selling complementary catalog items.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Tier-upgrade challenges to boost annual basket size.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46888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0: Potential Loyalists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62.0% Repeat | £458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Onboarding nurture sequence following 2nd purchase.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Limited-time volume discounts (e.g. Spend £100, Save £20).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Email product education to increase purchase frequency.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828800"/>
            <a:ext cx="246888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2: At-Risk Churners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24.9% Repeat | 187 Days Idle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Aggressive win-back campaigns ('We miss you' 20% discount coupon).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Short survey inquiring why they stopped purchasing.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Sunset policy: Cease ad spend if unengaged after 365 days.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CAPSTONE REVIEW 2 EVALUATION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Capstone 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100% compliance across all Review 2 criteria (25 marks) and bonus opportunities (+2 marks).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19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D1: Jupyter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019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Clean, fully executed top-to-bottom with all outputs visible (1_EDA.ipynb: 61 cells).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5059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D2: 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5059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Meaningful commit history across distinct milestones; requirements.txt present.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D3: Comparative Results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992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Summary tables ranking all algorithms across mandatory metrics in outputs/.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D4: All Required Visualisations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4787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Confusion matrices, combined ROC curves, feature importances, Elbow, Dendrogram.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965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D5: README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09651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Comprehensive problem statements, architectures, benchmark tables, and how-to-run guide.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451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D6: Consolidated 10-Algorithm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645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Single unified classification table comparing all 10 algorithms (Part A + Part B).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9379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D7: Cluster Visualisations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19379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2D PCA scatter plots (94.1% variance) and 2D t-SNE manifold embeddings.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424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D8: Interactive GUI (Bonus)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7424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Turnkey Streamlit application with live inference, PCA customer projection, and leaderboards.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